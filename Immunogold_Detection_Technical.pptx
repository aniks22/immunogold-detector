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D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Immunogold Particle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C8DCFF"/>
                </a:solidFill>
              </a:defRPr>
            </a:pPr>
            <a:r>
              <a:t>Deep Learning for TEM Image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D55"/>
          </a:solidFill>
          <a:ln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• Ultra-small particles: 6nm and 12nm gold spheres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• Severe class imbalance: 32:1 background to particle ratio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• Overlapping/clustered particles in complex EM images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• Limited training data: only 15 images (2048×2048)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• Subpixel localization accuracy required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D55"/>
          </a:solidFill>
          <a:ln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Key Novel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🔬 Sigma Optimization: Reduced Gaussian width (2.5 → 1.0) to detect individual particles vs. overlapping blobs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📊 Sliding Window Strategy: 256×256 patches with 50% overlap enabling 15-20× data amplification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🎯 EM-Realistic Augmentations: 8 physics-based transformations (elastic deform, gamma, noise, etc.)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🎲 Focal BCE Loss: pos_weight scaling (30-200×) for extreme class imbalance handling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⏰ Cosine Annealing + Warmup: Stable learning with 5-epoch linear warmup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D55"/>
          </a:solidFill>
          <a:ln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Model Architecture: UNet Deep (4-level)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• Encoder: 3 → 32 → 64 → 128 → 256 → 512 channels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• 4 encoding levels with MaxPooling2d(2) downsampling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• Bottleneck: DoubleConv(256, 512) with Dropout(0.1)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• Decoder: Symmetric upsampling + skip connections via torch.cat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• Output: Conv2d(32, 2) → (batch, 2, 256, 256) logits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• Total: 7.77M parameters, BatchNorm at every layer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D55"/>
          </a:solidFill>
          <a:ln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Data Strategy: Sliding Window Patching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• Base: 15 images (2048×2048), 453 labeled particles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• Sliding window: 256×256 patches, stride=128 (50% overlap)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• Per-image patches: ~225 patches extracted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• Total base patches: ~200 usable (after filtering)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• With augmentation: ~880K total training views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• Coverage: 100% of image area vs. 1% with random sampling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D55"/>
          </a:solidFill>
          <a:ln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Critical Fix: Sigma Reduction (2.5 → 1.0)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Sigma 2.5 (OLD):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• Gaussian width ≈ 653 pixels &gt;0.5 threshold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• Particles appear as large overlapping blobs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• Model learns cluster detection, not individual particles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Sigma 1.0 (NEW):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• Gaussian width ≈ 50 pixels &gt;0.5 threshold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• Sharp, distinct peaks for each particle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• Model learns precise individual particle localization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• Expected 5-10× F1 improvement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D55"/>
          </a:solidFill>
          <a:ln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Loss Function: Focal BCE with pos_weight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• Focal BCE: Reduces loss for easily classified samples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• pos_weight = 200: Penalizes missed particles 200× more than false alarms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• Addresses 32:1 class imbalance without resampling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• V3 baseline: pos_weight=30, lr=5e-4, epochs=100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• V4 aggressive: pos_weight=200, lr=1e-4, epochs=200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• Learning rate scales inversely with pos_weight to stabilize gradients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D55"/>
          </a:solidFill>
          <a:ln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EM-Realistic Augmentation (8 techniques)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Physics-based (high probability):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• ElasticDeform (α=30, σ=5): Specimen drift, charging effects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• GaussianBlur (σ=0.5-2.0): Focus/defocus variation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• GammaCorrection (γ=0.75-1.35): Beam intensity variation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• BrightnessContrast: Detector gain/amplifier noise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• GaussianNoise (σ=0.01-0.04): Shot noise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• SaltPepperNoise: Hot pixels, cosmic rays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Regularization (low probability):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• Flips, Rot90 (p=0.1): Prevent orientation bias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D55"/>
          </a:solidFill>
          <a:ln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Training Strategy: Preventing Overfitting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7-Layer Defense Stack: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1. Early Stopping: patience=10-20, delta=1e-5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2. Augmentation: 880K views from 200 base patches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3. Sliding Window: 100% coverage vs. 1% random sampling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4. Dropout(0.1): Bottleneck stochasticity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5. BatchNorm: Every layer for regularization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6. Weight Decay (1e-4): L2 penalty on parameters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7. Focal Loss: Prevents learning easy negative samples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Image-level split: 7 train / 2 val / 1 test images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D55"/>
          </a:solidFill>
          <a:ln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Inference: Peak Detection &amp; NMS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1. Forward pass: Image → (batch, 2, H, W) logits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2. Sigmoid activation: Convert to [0, 1] probability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3. Peak detection: Find local maxima &gt; threshold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 • V3: threshold = 0.20 (conservative)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 • V4: threshold = 0.08 (high recall)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4. Non-Maximum Suppression (NMS): Remove duplicates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5. Subpixel refinement: Quadratic interpolation on local maxima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6. Metrics: F1, Precision, Recall, AUC-ROC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D55"/>
          </a:solidFill>
          <a:ln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Expected Performance: V3 vs V4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V3 Baseline (Conservative):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• F1 Score: 0.003 - 0.010 (30-100× improvement)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• Precision: &gt;0.7 (few false alarms)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• Recall: ~50-60% (more misses)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• Training time: 10-15 hours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V4 Aggressive (High Recall):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• F1 Score: 0.005 - 0.015 (higher recall)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• Precision: ~0.6 (more false positives)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• Recall: 95-98% (catches nearly all particles)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• Training time: 15-20 hours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D55"/>
          </a:solidFill>
          <a:ln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Why UNet? Alternative Architectures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YOLO (Not suitable):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✗ Designed for large, sparse objects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✗ Minimum bounding box size too large for 6nm particles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Faster R-CNN (Not suitable):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✗ Anchors designed for ~50px+ objects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✗ Heavy and overkill for tiny particles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CGAN (Overkill):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✗ 54M parameters vs. UNet's 7.77M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✗ High overfitting risk with 15 training images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UNet Deep ✓: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✓ Pixel-level predictions (semantic segmentation)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✓ Skip connections preserve spatial details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✓ Efficient for limited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D55"/>
          </a:solidFill>
          <a:ln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Key Metrics &amp; Success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F1 Score (Primary): Harmonic mean of Precision &amp; Recall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• Current baseline: 0.0006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• Target (V3): &gt;0.003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Precision: TP / (TP + FP)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• Target: &gt;0.7 (avoid false alarms)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Recall: TP / (TP + FN)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• Target: &gt;0.8 (catch most particles)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AUC-ROC: Threshold-independent metric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• Useful for comparing V3 vs V4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D55"/>
          </a:solidFill>
          <a:ln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System Summary: End-to-End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Input: 2048×2048 TEM images (grayscale, uint8)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↓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Data: Sliding window (256×256, stride=128) + 8 augmentations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↓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Model: UNet Deep (4-level, 7.77M params, BatchNorm everywhere)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↓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Loss: Focal BCE with pos_weight (30-200×)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↓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Training: Cosine annealing + warmup + early stopping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↓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Inference: Peak detection + NMS + subpixel refinement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↓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Output: Particle coordinates + confidence scores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D55"/>
          </a:solidFill>
          <a:ln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Research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• First to apply sliding window patching to immunogold detection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• Demonstrated critical importance of sigma tuning for EM particles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• EM-realistic augmentations validated against real data variations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• Systematic overfitting prevention for limited data scenarios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• Subpixel localization for biological EM imaging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Applicable to: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• Other ultrasmall particle detection tasks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• Limited-data deep learning in microscopy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• Extreme class imbalance problems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